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2" r:id="rId4"/>
    <p:sldId id="259" r:id="rId5"/>
    <p:sldId id="261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87"/>
    <p:restoredTop sz="94670"/>
  </p:normalViewPr>
  <p:slideViewPr>
    <p:cSldViewPr snapToGrid="0">
      <p:cViewPr varScale="1">
        <p:scale>
          <a:sx n="117" d="100"/>
          <a:sy n="117" d="100"/>
        </p:scale>
        <p:origin x="1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4F1D-4450-E727-B0BF-F931422E8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35E6B-9490-8CF8-3140-E026F5AF8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E7ED5-32B1-E36E-4133-DAC86B57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B174D-ABC3-4F5D-FD75-7A4EE140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A0272-6B70-FFF8-B148-16F712E0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8512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36041-8BDD-3EF8-96E4-628C8A0A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61532-0355-0E3B-22C5-D88B42F10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1CC28-9714-7164-BACC-C321A8E9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130B4-01EB-EE28-D20E-27D3FCBF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5605A-A4CC-913D-B8D3-96341B41E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8329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9CFE-73E3-ADD3-8A6D-68A12039D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8A61E-5F24-7443-77DD-F6DDB40CF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78AA7-38C2-F438-3431-91DB6476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52B45-A8C0-ACDF-4A97-B1716312E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0F1B8-53B9-A75C-C0A9-0F02FE6F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0724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810F9-30EF-C61C-769C-FE2E6000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0C0B7-0183-4C79-F5C0-51B5FE0D4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12D2C-381F-D5AA-C436-9FD356B81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2E1BA-6B29-ADDA-6589-19D1910D2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BCD55-60F4-5F8D-13BA-610C69F6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74C40-8DE7-72F8-14EB-558352A7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7020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A2153-EE14-7BEC-3BB0-302B0B19C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16EC4-E3BE-E043-358C-21405A17A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5B6CB-5F0B-338B-15FC-6842582E0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6371B-1B33-3D72-E6C3-C9A988590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2E993-B5A6-90AC-17B2-C5B1C6FDC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CE0981-E69D-305C-85CB-35E4E0D4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A53A0-DDB3-D20F-4254-F64B8E98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C34494-A237-9D17-DA76-E3AF1909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73320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A710D-7A80-5FF6-BD4E-EE52D0DF6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2060E-175F-0100-F1E2-D86DB4633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317F6-22C9-97A4-12D8-05F3D6BE2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744C4-8ADC-A779-0CF7-ADB0E565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57088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91E05-E393-2D2F-5160-ADCBF4EED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705B99-8161-AE2F-47D6-EA35C80DD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3B1C1-4122-0B1C-5CC4-2694764B5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16781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D1401-6AA1-E068-AC80-61F303E5A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9500E-78FB-B857-D298-54552D544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FDE84-F1D6-2849-87FB-E28B3F6F9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7FB7E-BD81-9801-7773-EFB27D52F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A4B53-241B-BE9C-540A-70B4F1B0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396C3-527D-2DD6-44DA-83713B2D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3749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A5E2-E454-2F2C-245D-D46B21F32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E3498-F524-F4A2-F00F-4866C721D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1E1BA-B4F5-1A65-3F1D-43CDE57F4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2ECE8-3B34-7CE2-98DA-A07F6CDF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A04A8-46D2-6466-99D9-3E5876877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10436-C688-341A-1E17-9F933603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0469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2F93-3DBF-0D31-8188-6EBE5988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E1EA8-EC37-8B93-D4C9-14DDB35B2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B801D-23CA-7E42-5A60-8C997A916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07B4C-097C-F8BE-7D07-13C04486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CD124-1C9A-ADBC-293B-3B9B7AD1C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4351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33DFBA-CFDE-1F07-5E81-F2B4001D1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4B92D-FC2D-2B78-81A2-B11D5E484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52BF9-534C-7671-449A-811F9DE3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37DA6-00AD-B253-26F5-48BED4BDD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A0E45-6C32-FAB8-1CC2-1823CAB6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9665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96CFE-81DE-F113-ECB6-88AC9FE13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4152D-9703-A28D-89DF-D66926A79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ED171-F8CC-2F6B-EAB1-84162A580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72E166-EF3E-AA43-B56C-001E6BA08103}" type="datetimeFigureOut">
              <a:rPr lang="en-IT" smtClean="0"/>
              <a:t>13/05/26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6E79B-F0FB-2932-E659-FFE01E6D3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D8877-B9DF-668D-1A76-67578D3E2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D8FA-81B7-1343-B31A-2BEDFB3AE2B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90836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E4BE77-961D-D2C8-AC33-DA5967D25C0E}"/>
              </a:ext>
            </a:extLst>
          </p:cNvPr>
          <p:cNvSpPr txBox="1"/>
          <p:nvPr/>
        </p:nvSpPr>
        <p:spPr>
          <a:xfrm>
            <a:off x="5860973" y="2533880"/>
            <a:ext cx="2622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3200" b="1" dirty="0"/>
              <a:t>CLIENT VIEW</a:t>
            </a:r>
          </a:p>
        </p:txBody>
      </p:sp>
    </p:spTree>
    <p:extLst>
      <p:ext uri="{BB962C8B-B14F-4D97-AF65-F5344CB8AC3E}">
        <p14:creationId xmlns:p14="http://schemas.microsoft.com/office/powerpoint/2010/main" val="342708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0C1FA-53F8-4A01-E8E7-90ACC2B00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5C63BA-89E1-BD2C-ACF2-7BBE29BA2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284" y="350788"/>
            <a:ext cx="7772400" cy="5561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D0EC9C-26C3-DA1C-059A-01B07CFA675B}"/>
              </a:ext>
            </a:extLst>
          </p:cNvPr>
          <p:cNvSpPr txBox="1"/>
          <p:nvPr/>
        </p:nvSpPr>
        <p:spPr>
          <a:xfrm>
            <a:off x="3277518" y="2306672"/>
            <a:ext cx="2670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000" dirty="0">
                <a:solidFill>
                  <a:srgbClr val="FF0000"/>
                </a:solidFill>
              </a:rPr>
              <a:t>1) </a:t>
            </a:r>
            <a:r>
              <a:rPr lang="en-GB" sz="1000" dirty="0">
                <a:solidFill>
                  <a:srgbClr val="FF0000"/>
                </a:solidFill>
              </a:rPr>
              <a:t>D</a:t>
            </a:r>
            <a:r>
              <a:rPr lang="en-IT" sz="1000" dirty="0">
                <a:solidFill>
                  <a:srgbClr val="FF0000"/>
                </a:solidFill>
              </a:rPr>
              <a:t>uplicate this CTA on the right “Find your Production Company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58D309-BDD5-B890-F285-DFE1CC803084}"/>
              </a:ext>
            </a:extLst>
          </p:cNvPr>
          <p:cNvSpPr/>
          <p:nvPr/>
        </p:nvSpPr>
        <p:spPr>
          <a:xfrm>
            <a:off x="1828800" y="2706782"/>
            <a:ext cx="2897436" cy="58389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DB1B3-FAB8-726F-9FBC-94C714C32BC4}"/>
              </a:ext>
            </a:extLst>
          </p:cNvPr>
          <p:cNvSpPr txBox="1"/>
          <p:nvPr/>
        </p:nvSpPr>
        <p:spPr>
          <a:xfrm>
            <a:off x="9332684" y="1148065"/>
            <a:ext cx="26701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 err="1">
                <a:solidFill>
                  <a:srgbClr val="FF0000"/>
                </a:solidFill>
              </a:rPr>
              <a:t>This</a:t>
            </a:r>
            <a:r>
              <a:rPr lang="it-IT" sz="1000" dirty="0">
                <a:solidFill>
                  <a:srgbClr val="FF0000"/>
                </a:solidFill>
              </a:rPr>
              <a:t> page </a:t>
            </a:r>
            <a:r>
              <a:rPr lang="it-IT" sz="1000" dirty="0" err="1">
                <a:solidFill>
                  <a:srgbClr val="FF0000"/>
                </a:solidFill>
              </a:rPr>
              <a:t>should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have</a:t>
            </a:r>
            <a:r>
              <a:rPr lang="it-IT" sz="1000" dirty="0">
                <a:solidFill>
                  <a:srgbClr val="FF0000"/>
                </a:solidFill>
              </a:rPr>
              <a:t> 5 CTA</a:t>
            </a:r>
            <a:br>
              <a:rPr lang="it-IT" sz="1000" dirty="0">
                <a:solidFill>
                  <a:srgbClr val="FF0000"/>
                </a:solidFill>
              </a:rPr>
            </a:br>
            <a:r>
              <a:rPr lang="it-IT" sz="1000" dirty="0">
                <a:solidFill>
                  <a:srgbClr val="FF0000"/>
                </a:solidFill>
              </a:rPr>
              <a:t>1) </a:t>
            </a:r>
            <a:r>
              <a:rPr lang="it-IT" sz="1000" dirty="0" err="1">
                <a:solidFill>
                  <a:srgbClr val="FF0000"/>
                </a:solidFill>
              </a:rPr>
              <a:t>find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your</a:t>
            </a:r>
            <a:r>
              <a:rPr lang="it-IT" sz="1000" dirty="0">
                <a:solidFill>
                  <a:srgbClr val="FF0000"/>
                </a:solidFill>
              </a:rPr>
              <a:t> agency -&gt; ok </a:t>
            </a:r>
          </a:p>
          <a:p>
            <a:r>
              <a:rPr lang="it-IT" sz="1000" dirty="0">
                <a:solidFill>
                  <a:srgbClr val="FF0000"/>
                </a:solidFill>
              </a:rPr>
              <a:t>2) Find </a:t>
            </a:r>
            <a:r>
              <a:rPr lang="it-IT" sz="1000" dirty="0" err="1">
                <a:solidFill>
                  <a:srgbClr val="FF0000"/>
                </a:solidFill>
              </a:rPr>
              <a:t>your</a:t>
            </a:r>
            <a:r>
              <a:rPr lang="it-IT" sz="1000" dirty="0">
                <a:solidFill>
                  <a:srgbClr val="FF0000"/>
                </a:solidFill>
              </a:rPr>
              <a:t> production company -&gt; </a:t>
            </a:r>
            <a:r>
              <a:rPr lang="it-IT" sz="1000" dirty="0" err="1">
                <a:solidFill>
                  <a:srgbClr val="FF0000"/>
                </a:solidFill>
              </a:rPr>
              <a:t>missed</a:t>
            </a:r>
            <a:br>
              <a:rPr lang="it-IT" sz="1000" dirty="0">
                <a:solidFill>
                  <a:srgbClr val="FF0000"/>
                </a:solidFill>
              </a:rPr>
            </a:br>
            <a:r>
              <a:rPr lang="it-IT" sz="1000" dirty="0">
                <a:solidFill>
                  <a:srgbClr val="FF0000"/>
                </a:solidFill>
              </a:rPr>
              <a:t>3) </a:t>
            </a:r>
            <a:r>
              <a:rPr lang="it-IT" sz="1000" dirty="0" err="1">
                <a:solidFill>
                  <a:srgbClr val="FF0000"/>
                </a:solidFill>
              </a:rPr>
              <a:t>Latest</a:t>
            </a:r>
            <a:r>
              <a:rPr lang="it-IT" sz="1000" dirty="0">
                <a:solidFill>
                  <a:srgbClr val="FF0000"/>
                </a:solidFill>
              </a:rPr>
              <a:t> creative updates</a:t>
            </a:r>
            <a:br>
              <a:rPr lang="it-IT" sz="1000" dirty="0">
                <a:solidFill>
                  <a:srgbClr val="FF0000"/>
                </a:solidFill>
              </a:rPr>
            </a:br>
            <a:r>
              <a:rPr lang="it-IT" sz="1000" dirty="0">
                <a:solidFill>
                  <a:srgbClr val="FF0000"/>
                </a:solidFill>
              </a:rPr>
              <a:t>4) AI Agent</a:t>
            </a:r>
          </a:p>
          <a:p>
            <a:r>
              <a:rPr lang="it-IT" sz="1000" dirty="0">
                <a:solidFill>
                  <a:srgbClr val="FF0000"/>
                </a:solidFill>
              </a:rPr>
              <a:t>5) Account settings</a:t>
            </a:r>
            <a:br>
              <a:rPr lang="it-IT" sz="1000" dirty="0">
                <a:solidFill>
                  <a:srgbClr val="FF0000"/>
                </a:solidFill>
              </a:rPr>
            </a:br>
            <a:br>
              <a:rPr lang="it-IT" sz="1000" dirty="0">
                <a:solidFill>
                  <a:srgbClr val="FF0000"/>
                </a:solidFill>
              </a:rPr>
            </a:br>
            <a:r>
              <a:rPr lang="it-IT" sz="1000" dirty="0">
                <a:solidFill>
                  <a:srgbClr val="FF0000"/>
                </a:solidFill>
              </a:rPr>
              <a:t>ok for the </a:t>
            </a:r>
            <a:r>
              <a:rPr lang="it-IT" sz="1000" dirty="0" err="1">
                <a:solidFill>
                  <a:srgbClr val="FF0000"/>
                </a:solidFill>
              </a:rPr>
              <a:t>rest</a:t>
            </a:r>
            <a:br>
              <a:rPr lang="it-IT" sz="1000" dirty="0">
                <a:solidFill>
                  <a:srgbClr val="FF0000"/>
                </a:solidFill>
              </a:rPr>
            </a:br>
            <a:br>
              <a:rPr lang="it-IT" sz="1000" dirty="0">
                <a:solidFill>
                  <a:srgbClr val="FF0000"/>
                </a:solidFill>
              </a:rPr>
            </a:br>
            <a:endParaRPr lang="en-IT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932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EA3624-2126-8900-A700-2A525FF54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85" y="279759"/>
            <a:ext cx="7772400" cy="62984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AFDDB9-524A-8ED0-E7D0-276447E18B1E}"/>
              </a:ext>
            </a:extLst>
          </p:cNvPr>
          <p:cNvSpPr txBox="1"/>
          <p:nvPr/>
        </p:nvSpPr>
        <p:spPr>
          <a:xfrm>
            <a:off x="8248999" y="536026"/>
            <a:ext cx="3455322" cy="34163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This filter should include sub-filters. The first one should be </a:t>
            </a:r>
            <a:r>
              <a:rPr lang="en-GB" b="1" dirty="0">
                <a:solidFill>
                  <a:srgbClr val="FF0000"/>
                </a:solidFill>
              </a:rPr>
              <a:t>Region</a:t>
            </a:r>
            <a:r>
              <a:rPr lang="en-GB" dirty="0">
                <a:solidFill>
                  <a:srgbClr val="FF0000"/>
                </a:solidFill>
              </a:rPr>
              <a:t>; once the Region is selected, the user can choose the </a:t>
            </a:r>
            <a:r>
              <a:rPr lang="en-GB" b="1" dirty="0">
                <a:solidFill>
                  <a:srgbClr val="FF0000"/>
                </a:solidFill>
              </a:rPr>
              <a:t>Country</a:t>
            </a:r>
            <a:r>
              <a:rPr lang="en-GB" dirty="0">
                <a:solidFill>
                  <a:srgbClr val="FF0000"/>
                </a:solidFill>
              </a:rPr>
              <a:t>; once the Country is selected, the user can choose the </a:t>
            </a:r>
            <a:r>
              <a:rPr lang="en-GB" b="1" dirty="0">
                <a:solidFill>
                  <a:srgbClr val="FF0000"/>
                </a:solidFill>
              </a:rPr>
              <a:t>City</a:t>
            </a:r>
            <a:r>
              <a:rPr lang="en-GB" dirty="0">
                <a:solidFill>
                  <a:srgbClr val="FF0000"/>
                </a:solidFill>
              </a:rPr>
              <a:t>.</a:t>
            </a:r>
          </a:p>
          <a:p>
            <a:br>
              <a:rPr lang="en-GB" dirty="0">
                <a:solidFill>
                  <a:srgbClr val="FF0000"/>
                </a:solidFill>
              </a:rPr>
            </a:br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If we provide the filter directly at City level, we would end up with an endless list of cities.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C633FC-527E-AC4E-50CE-C187B8CDDB54}"/>
              </a:ext>
            </a:extLst>
          </p:cNvPr>
          <p:cNvSpPr/>
          <p:nvPr/>
        </p:nvSpPr>
        <p:spPr>
          <a:xfrm>
            <a:off x="1417320" y="3097530"/>
            <a:ext cx="1817370" cy="5943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91097815-B326-B5A9-0AD9-D9FAA106B20C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rot="10800000" flipV="1">
            <a:off x="2326005" y="2244186"/>
            <a:ext cx="5922994" cy="853344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F633901-4FCF-6058-A20B-9D1B4CD3DC9B}"/>
              </a:ext>
            </a:extLst>
          </p:cNvPr>
          <p:cNvSpPr txBox="1"/>
          <p:nvPr/>
        </p:nvSpPr>
        <p:spPr>
          <a:xfrm>
            <a:off x="8248999" y="4468553"/>
            <a:ext cx="3455322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Industry and all Industries. non sector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2AF2A1-826B-1D3A-10FC-29A230CC1282}"/>
              </a:ext>
            </a:extLst>
          </p:cNvPr>
          <p:cNvSpPr/>
          <p:nvPr/>
        </p:nvSpPr>
        <p:spPr>
          <a:xfrm>
            <a:off x="4892040" y="3097530"/>
            <a:ext cx="1817370" cy="5943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6B527E6B-2A35-1BAE-2964-0A5F9E4A528B}"/>
              </a:ext>
            </a:extLst>
          </p:cNvPr>
          <p:cNvCxnSpPr>
            <a:cxnSpLocks/>
            <a:stCxn id="17" idx="1"/>
            <a:endCxn id="21" idx="0"/>
          </p:cNvCxnSpPr>
          <p:nvPr/>
        </p:nvCxnSpPr>
        <p:spPr>
          <a:xfrm rot="10800000">
            <a:off x="5800725" y="3097531"/>
            <a:ext cx="2448274" cy="1694189"/>
          </a:xfrm>
          <a:prstGeom prst="bentConnector4">
            <a:avLst>
              <a:gd name="adj1" fmla="val 31442"/>
              <a:gd name="adj2" fmla="val 11349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157DA5-2AEB-91DA-47A9-33AD9BB9E0FA}"/>
              </a:ext>
            </a:extLst>
          </p:cNvPr>
          <p:cNvSpPr txBox="1"/>
          <p:nvPr/>
        </p:nvSpPr>
        <p:spPr>
          <a:xfrm>
            <a:off x="8248999" y="5489633"/>
            <a:ext cx="3455322" cy="923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Do not forget that you can select multiple industries, cities or services </a:t>
            </a:r>
            <a:r>
              <a:rPr lang="en-GB" dirty="0">
                <a:solidFill>
                  <a:srgbClr val="FF0000"/>
                </a:solidFill>
                <a:sym typeface="Wingdings" pitchFamily="2" charset="2"/>
              </a:rPr>
              <a:t>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123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FD0E-7858-4178-25A2-98256671C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CA0F94-037A-10F6-9A45-F5539D927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" y="0"/>
            <a:ext cx="7153968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46365A-9F65-51A0-B601-5E9B70678178}"/>
              </a:ext>
            </a:extLst>
          </p:cNvPr>
          <p:cNvSpPr txBox="1"/>
          <p:nvPr/>
        </p:nvSpPr>
        <p:spPr>
          <a:xfrm>
            <a:off x="7261254" y="331076"/>
            <a:ext cx="46259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</a:t>
            </a:r>
            <a:r>
              <a:rPr lang="en-IT" dirty="0"/>
              <a:t>k for these filters, but please follow the same guidelines of the previous chart.</a:t>
            </a:r>
            <a:br>
              <a:rPr lang="en-IT" dirty="0"/>
            </a:br>
            <a:br>
              <a:rPr lang="en-IT" dirty="0"/>
            </a:br>
            <a:r>
              <a:rPr lang="en-GB" dirty="0"/>
              <a:t>I</a:t>
            </a:r>
            <a:r>
              <a:rPr lang="en-IT" dirty="0"/>
              <a:t>n parallel we have never discussed about metadata related to articles or video. </a:t>
            </a:r>
            <a:r>
              <a:rPr lang="en-GB" dirty="0"/>
              <a:t>W</a:t>
            </a:r>
            <a:r>
              <a:rPr lang="en-IT" dirty="0"/>
              <a:t>e should discuss a bit about this topic</a:t>
            </a:r>
          </a:p>
        </p:txBody>
      </p:sp>
    </p:spTree>
    <p:extLst>
      <p:ext uri="{BB962C8B-B14F-4D97-AF65-F5344CB8AC3E}">
        <p14:creationId xmlns:p14="http://schemas.microsoft.com/office/powerpoint/2010/main" val="4286918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4A84-CFB9-A429-4C2A-75E807EC7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6B8800-5830-ED03-4BEB-7B87495C8EE4}"/>
              </a:ext>
            </a:extLst>
          </p:cNvPr>
          <p:cNvSpPr txBox="1"/>
          <p:nvPr/>
        </p:nvSpPr>
        <p:spPr>
          <a:xfrm>
            <a:off x="5860973" y="2533880"/>
            <a:ext cx="2472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3200" b="1" dirty="0"/>
              <a:t>Admin VIEW</a:t>
            </a:r>
          </a:p>
        </p:txBody>
      </p:sp>
    </p:spTree>
    <p:extLst>
      <p:ext uri="{BB962C8B-B14F-4D97-AF65-F5344CB8AC3E}">
        <p14:creationId xmlns:p14="http://schemas.microsoft.com/office/powerpoint/2010/main" val="2084122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7C744-23E0-7C59-BF73-70B6E52C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C89805-A730-98EC-48E2-0C1FB7C3EC89}"/>
              </a:ext>
            </a:extLst>
          </p:cNvPr>
          <p:cNvSpPr/>
          <p:nvPr/>
        </p:nvSpPr>
        <p:spPr>
          <a:xfrm>
            <a:off x="6096000" y="2538248"/>
            <a:ext cx="793531" cy="22071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BF033B-194A-399E-DBBF-0B10C07981FB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96614" y="2593428"/>
            <a:ext cx="5599386" cy="551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BA3742-4AC2-660B-A3A4-3869846CD9F2}"/>
              </a:ext>
            </a:extLst>
          </p:cNvPr>
          <p:cNvSpPr txBox="1"/>
          <p:nvPr/>
        </p:nvSpPr>
        <p:spPr>
          <a:xfrm>
            <a:off x="5401087" y="2353582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rgbClr val="FF0000"/>
                </a:solidFill>
              </a:rPr>
              <a:t>add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F4F87F-453A-20A2-F6AD-A3A58491B5A9}"/>
              </a:ext>
            </a:extLst>
          </p:cNvPr>
          <p:cNvSpPr txBox="1"/>
          <p:nvPr/>
        </p:nvSpPr>
        <p:spPr>
          <a:xfrm>
            <a:off x="7997983" y="1148700"/>
            <a:ext cx="3997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Ok </a:t>
            </a:r>
            <a:r>
              <a:rPr lang="it-IT" dirty="0" err="1">
                <a:solidFill>
                  <a:srgbClr val="FF0000"/>
                </a:solidFill>
              </a:rPr>
              <a:t>your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amend</a:t>
            </a:r>
            <a:r>
              <a:rPr lang="it-IT" dirty="0">
                <a:solidFill>
                  <a:srgbClr val="FF0000"/>
                </a:solidFill>
              </a:rPr>
              <a:t> work </a:t>
            </a:r>
            <a:r>
              <a:rPr lang="it-IT" dirty="0" err="1">
                <a:solidFill>
                  <a:srgbClr val="FF0000"/>
                </a:solidFill>
              </a:rPr>
              <a:t>but</a:t>
            </a:r>
            <a:r>
              <a:rPr lang="it-IT" dirty="0">
                <a:solidFill>
                  <a:srgbClr val="FF0000"/>
                </a:solidFill>
              </a:rPr>
              <a:t> i can </a:t>
            </a:r>
            <a:r>
              <a:rPr lang="it-IT" dirty="0" err="1">
                <a:solidFill>
                  <a:srgbClr val="FF0000"/>
                </a:solidFill>
              </a:rPr>
              <a:t>amend</a:t>
            </a:r>
            <a:r>
              <a:rPr lang="it-IT" dirty="0">
                <a:solidFill>
                  <a:srgbClr val="FF0000"/>
                </a:solidFill>
              </a:rPr>
              <a:t> </a:t>
            </a:r>
          </a:p>
          <a:p>
            <a:r>
              <a:rPr lang="it-IT" dirty="0">
                <a:solidFill>
                  <a:srgbClr val="FF0000"/>
                </a:solidFill>
              </a:rPr>
              <a:t>Admin users to set up </a:t>
            </a:r>
            <a:r>
              <a:rPr lang="it-IT" dirty="0" err="1">
                <a:solidFill>
                  <a:srgbClr val="FF0000"/>
                </a:solidFill>
              </a:rPr>
              <a:t>it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as</a:t>
            </a:r>
            <a:r>
              <a:rPr lang="it-IT" dirty="0">
                <a:solidFill>
                  <a:srgbClr val="FF0000"/>
                </a:solidFill>
              </a:rPr>
              <a:t> va consulting </a:t>
            </a:r>
            <a:r>
              <a:rPr lang="it-IT" dirty="0" err="1">
                <a:solidFill>
                  <a:srgbClr val="FF0000"/>
                </a:solidFill>
              </a:rPr>
              <a:t>member</a:t>
            </a:r>
            <a:endParaRPr lang="en-IT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07B03-A2E4-3B10-AFF0-CBEF3F5F1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761"/>
            <a:ext cx="7772400" cy="421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9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2BC5-C79A-6387-FD7C-8F9841722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A7093-658E-4C10-3593-5E74F6F54E4A}"/>
              </a:ext>
            </a:extLst>
          </p:cNvPr>
          <p:cNvSpPr txBox="1"/>
          <p:nvPr/>
        </p:nvSpPr>
        <p:spPr>
          <a:xfrm>
            <a:off x="2975883" y="2187039"/>
            <a:ext cx="5283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S</a:t>
            </a:r>
            <a:r>
              <a:rPr lang="en-IT" sz="3200" b="1" dirty="0"/>
              <a:t>uper admin &amp; Admin VIEW</a:t>
            </a:r>
          </a:p>
        </p:txBody>
      </p:sp>
    </p:spTree>
    <p:extLst>
      <p:ext uri="{BB962C8B-B14F-4D97-AF65-F5344CB8AC3E}">
        <p14:creationId xmlns:p14="http://schemas.microsoft.com/office/powerpoint/2010/main" val="200731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94DF-98FA-6564-DA23-3C231BCB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9E897E9-B127-B26F-41C7-8E1CEB53F5CA}"/>
              </a:ext>
            </a:extLst>
          </p:cNvPr>
          <p:cNvSpPr txBox="1"/>
          <p:nvPr/>
        </p:nvSpPr>
        <p:spPr>
          <a:xfrm>
            <a:off x="6418817" y="840451"/>
            <a:ext cx="577318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000" dirty="0"/>
              <a:t>Please update the form as follows:</a:t>
            </a:r>
          </a:p>
          <a:p>
            <a:r>
              <a:rPr lang="en-IT" sz="1000" dirty="0"/>
              <a:t>Rename the </a:t>
            </a:r>
            <a:r>
              <a:rPr lang="en-IT" sz="1000" b="1" dirty="0"/>
              <a:t>“Company”</a:t>
            </a:r>
            <a:r>
              <a:rPr lang="en-IT" sz="1000" dirty="0"/>
              <a:t> section to </a:t>
            </a:r>
            <a:r>
              <a:rPr lang="en-IT" sz="1000" b="1" dirty="0"/>
              <a:t>“Geographic &amp; Operating Structure”</a:t>
            </a:r>
            <a:r>
              <a:rPr lang="en-IT" sz="1000" dirty="0"/>
              <a:t>.</a:t>
            </a:r>
          </a:p>
          <a:p>
            <a:r>
              <a:rPr lang="en-IT" sz="1000" dirty="0"/>
              <a:t>Keep </a:t>
            </a:r>
            <a:r>
              <a:rPr lang="en-IT" sz="1000" b="1" dirty="0"/>
              <a:t>“Operate as”</a:t>
            </a:r>
            <a:r>
              <a:rPr lang="en-IT" sz="1000" dirty="0"/>
              <a:t> as the main driver of the form. Based on the selected value, the required fields should change dynamically:</a:t>
            </a:r>
          </a:p>
          <a:p>
            <a:pPr lvl="1"/>
            <a:r>
              <a:rPr lang="en-IT" sz="1000" b="1" dirty="0"/>
              <a:t>Regional Hub</a:t>
            </a:r>
            <a:r>
              <a:rPr lang="en-IT" sz="1000" dirty="0"/>
              <a:t>: parent company + regional hub + covered regions/countries.</a:t>
            </a:r>
          </a:p>
          <a:p>
            <a:pPr lvl="1"/>
            <a:r>
              <a:rPr lang="en-IT" sz="1000" b="1" dirty="0"/>
              <a:t>Multi Country</a:t>
            </a:r>
            <a:r>
              <a:rPr lang="en-IT" sz="1000" dirty="0"/>
              <a:t>: parent company + regional hub + region + covered countries.</a:t>
            </a:r>
          </a:p>
          <a:p>
            <a:pPr lvl="1"/>
            <a:r>
              <a:rPr lang="en-IT" sz="1000" b="1" dirty="0"/>
              <a:t>Country Company</a:t>
            </a:r>
            <a:r>
              <a:rPr lang="en-IT" sz="1000" dirty="0"/>
              <a:t>: parent company + regional hub + region + country + local legal entity.</a:t>
            </a:r>
          </a:p>
          <a:p>
            <a:r>
              <a:rPr lang="en-IT" sz="1000" dirty="0"/>
              <a:t>Add a separate </a:t>
            </a:r>
            <a:r>
              <a:rPr lang="en-IT" sz="1000" b="1" dirty="0"/>
              <a:t>“Region”</a:t>
            </a:r>
            <a:r>
              <a:rPr lang="en-IT" sz="1000" dirty="0"/>
              <a:t> field between </a:t>
            </a:r>
            <a:r>
              <a:rPr lang="en-IT" sz="1000" b="1" dirty="0"/>
              <a:t>Regional Hub</a:t>
            </a:r>
            <a:r>
              <a:rPr lang="en-IT" sz="1000" dirty="0"/>
              <a:t> and </a:t>
            </a:r>
            <a:r>
              <a:rPr lang="en-IT" sz="1000" b="1" dirty="0"/>
              <a:t>Country</a:t>
            </a:r>
            <a:r>
              <a:rPr lang="en-IT" sz="1000" dirty="0"/>
              <a:t>.</a:t>
            </a:r>
          </a:p>
          <a:p>
            <a:r>
              <a:rPr lang="en-IT" sz="1000" dirty="0"/>
              <a:t>Fix the </a:t>
            </a:r>
            <a:r>
              <a:rPr lang="en-IT" sz="1000" b="1" dirty="0"/>
              <a:t>Country</a:t>
            </a:r>
            <a:r>
              <a:rPr lang="en-IT" sz="1000" dirty="0"/>
              <a:t> field: it should contain actual countries only. The current placeholder “Southern Europe” is a region, not a country.</a:t>
            </a:r>
          </a:p>
          <a:p>
            <a:r>
              <a:rPr lang="en-IT" sz="1000" dirty="0"/>
              <a:t>Separate clearly:</a:t>
            </a:r>
          </a:p>
          <a:p>
            <a:pPr lvl="1"/>
            <a:r>
              <a:rPr lang="en-IT" sz="1000" b="1" dirty="0"/>
              <a:t>Company Name</a:t>
            </a:r>
            <a:endParaRPr lang="en-IT" sz="1000" dirty="0"/>
          </a:p>
          <a:p>
            <a:pPr lvl="1"/>
            <a:r>
              <a:rPr lang="en-IT" sz="1000" b="1" dirty="0"/>
              <a:t>Legal Entity Name</a:t>
            </a:r>
            <a:endParaRPr lang="en-IT" sz="1000" dirty="0"/>
          </a:p>
          <a:p>
            <a:pPr lvl="1"/>
            <a:r>
              <a:rPr lang="en-IT" sz="1000" b="1" dirty="0"/>
              <a:t>Regional Hub</a:t>
            </a:r>
            <a:endParaRPr lang="en-IT" sz="1000" dirty="0"/>
          </a:p>
          <a:p>
            <a:pPr lvl="1"/>
            <a:r>
              <a:rPr lang="en-IT" sz="1000" b="1" dirty="0"/>
              <a:t>Region</a:t>
            </a:r>
            <a:endParaRPr lang="en-IT" sz="1000" dirty="0"/>
          </a:p>
          <a:p>
            <a:pPr lvl="1"/>
            <a:r>
              <a:rPr lang="en-IT" sz="1000" b="1" dirty="0"/>
              <a:t>Country</a:t>
            </a:r>
            <a:endParaRPr lang="en-IT" sz="1000" dirty="0"/>
          </a:p>
          <a:p>
            <a:pPr lvl="1"/>
            <a:r>
              <a:rPr lang="en-IT" sz="1000" b="1" dirty="0"/>
              <a:t>Address</a:t>
            </a:r>
            <a:endParaRPr lang="en-IT" sz="1000" dirty="0"/>
          </a:p>
          <a:p>
            <a:r>
              <a:rPr lang="en-IT" sz="1000" dirty="0"/>
              <a:t>For the address field, please add an </a:t>
            </a:r>
            <a:r>
              <a:rPr lang="en-IT" sz="1000" b="1" dirty="0"/>
              <a:t>Address Type</a:t>
            </a:r>
            <a:r>
              <a:rPr lang="en-IT" sz="1000" dirty="0"/>
              <a:t> selector: Headquarters / Legal Office / Local Office / Billing / Operational Office.</a:t>
            </a:r>
          </a:p>
          <a:p>
            <a:r>
              <a:rPr lang="en-IT" sz="1000" dirty="0"/>
              <a:t>The key point is that Aura should not only have a cleaner UI, but a reliable structure to cluster clients by geography, operating model and legal entity.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0FA43-C7F7-00FE-FD80-D627356E6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3" y="391885"/>
            <a:ext cx="5681977" cy="512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7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412</Words>
  <Application>Microsoft Macintosh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Arbitrio</dc:creator>
  <cp:lastModifiedBy>Stefano Arbitrio</cp:lastModifiedBy>
  <cp:revision>6</cp:revision>
  <dcterms:created xsi:type="dcterms:W3CDTF">2026-04-30T09:10:56Z</dcterms:created>
  <dcterms:modified xsi:type="dcterms:W3CDTF">2026-05-13T19:38:00Z</dcterms:modified>
</cp:coreProperties>
</file>